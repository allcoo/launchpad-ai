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D37299-F69D-4D2A-BAB6-67451B25B06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8515E49-8494-4701-BA84-30F6F18D9B07}">
      <dgm:prSet/>
      <dgm:spPr/>
      <dgm:t>
        <a:bodyPr/>
        <a:lstStyle/>
        <a:p>
          <a:r>
            <a:rPr lang="en-US"/>
            <a:t>Problem:</a:t>
          </a:r>
          <a:br>
            <a:rPr lang="en-US"/>
          </a:br>
          <a:r>
            <a:rPr lang="en-US"/>
            <a:t>Millions of people struggle to start and complete important goals because of overwhelm, task initiation challenges, and executive function barriers.</a:t>
          </a:r>
        </a:p>
      </dgm:t>
    </dgm:pt>
    <dgm:pt modelId="{63210636-F312-4D03-BCFF-68D98B1F0866}" type="parTrans" cxnId="{24C02098-287A-4888-A8A7-B095F373E1FF}">
      <dgm:prSet/>
      <dgm:spPr/>
      <dgm:t>
        <a:bodyPr/>
        <a:lstStyle/>
        <a:p>
          <a:endParaRPr lang="en-US"/>
        </a:p>
      </dgm:t>
    </dgm:pt>
    <dgm:pt modelId="{EDB71C83-4A5C-417F-AE4E-21491C71ECD9}" type="sibTrans" cxnId="{24C02098-287A-4888-A8A7-B095F373E1FF}">
      <dgm:prSet/>
      <dgm:spPr/>
      <dgm:t>
        <a:bodyPr/>
        <a:lstStyle/>
        <a:p>
          <a:endParaRPr lang="en-US"/>
        </a:p>
      </dgm:t>
    </dgm:pt>
    <dgm:pt modelId="{0734AC17-409C-4E48-8C04-0F33B2057A38}">
      <dgm:prSet/>
      <dgm:spPr/>
      <dgm:t>
        <a:bodyPr/>
        <a:lstStyle/>
        <a:p>
          <a:r>
            <a:rPr lang="en-US"/>
            <a:t>Solution:</a:t>
          </a:r>
          <a:br>
            <a:rPr lang="en-US"/>
          </a:br>
          <a:r>
            <a:rPr lang="en-US"/>
            <a:t>Launchpad AI helps users move from intention to action through AI-guided planning, focus coaching, and progress recovery</a:t>
          </a:r>
        </a:p>
      </dgm:t>
    </dgm:pt>
    <dgm:pt modelId="{C2F0BE3E-ECE4-4996-A853-E71C0A057922}" type="parTrans" cxnId="{44590239-1B73-468F-A51C-EFAC4B5B88D0}">
      <dgm:prSet/>
      <dgm:spPr/>
      <dgm:t>
        <a:bodyPr/>
        <a:lstStyle/>
        <a:p>
          <a:endParaRPr lang="en-US"/>
        </a:p>
      </dgm:t>
    </dgm:pt>
    <dgm:pt modelId="{FB774507-8F5D-47B6-9697-12EEDE868443}" type="sibTrans" cxnId="{44590239-1B73-468F-A51C-EFAC4B5B88D0}">
      <dgm:prSet/>
      <dgm:spPr/>
      <dgm:t>
        <a:bodyPr/>
        <a:lstStyle/>
        <a:p>
          <a:endParaRPr lang="en-US"/>
        </a:p>
      </dgm:t>
    </dgm:pt>
    <dgm:pt modelId="{F9563634-4A42-4EF4-9892-E6322A530A54}" type="pres">
      <dgm:prSet presAssocID="{8AD37299-F69D-4D2A-BAB6-67451B25B0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C12463-2B67-4F0B-81BB-7434F9658423}" type="pres">
      <dgm:prSet presAssocID="{88515E49-8494-4701-BA84-30F6F18D9B07}" presName="hierRoot1" presStyleCnt="0"/>
      <dgm:spPr/>
    </dgm:pt>
    <dgm:pt modelId="{A1F24912-0603-4DF0-9618-6C97F598E0EF}" type="pres">
      <dgm:prSet presAssocID="{88515E49-8494-4701-BA84-30F6F18D9B07}" presName="composite" presStyleCnt="0"/>
      <dgm:spPr/>
    </dgm:pt>
    <dgm:pt modelId="{66C7862F-E0BC-43BF-AC10-01790DE88041}" type="pres">
      <dgm:prSet presAssocID="{88515E49-8494-4701-BA84-30F6F18D9B07}" presName="background" presStyleLbl="node0" presStyleIdx="0" presStyleCnt="2"/>
      <dgm:spPr/>
    </dgm:pt>
    <dgm:pt modelId="{83974E75-C12F-44B6-B228-C135995D3CDD}" type="pres">
      <dgm:prSet presAssocID="{88515E49-8494-4701-BA84-30F6F18D9B07}" presName="text" presStyleLbl="fgAcc0" presStyleIdx="0" presStyleCnt="2">
        <dgm:presLayoutVars>
          <dgm:chPref val="3"/>
        </dgm:presLayoutVars>
      </dgm:prSet>
      <dgm:spPr/>
    </dgm:pt>
    <dgm:pt modelId="{65E867D6-042E-4031-A2E1-D8D0A3F22690}" type="pres">
      <dgm:prSet presAssocID="{88515E49-8494-4701-BA84-30F6F18D9B07}" presName="hierChild2" presStyleCnt="0"/>
      <dgm:spPr/>
    </dgm:pt>
    <dgm:pt modelId="{4836DFE4-969E-41C1-8811-AA8B9946AC5D}" type="pres">
      <dgm:prSet presAssocID="{0734AC17-409C-4E48-8C04-0F33B2057A38}" presName="hierRoot1" presStyleCnt="0"/>
      <dgm:spPr/>
    </dgm:pt>
    <dgm:pt modelId="{7CB1AAA6-BC7B-4DA4-8113-EDAC6987464A}" type="pres">
      <dgm:prSet presAssocID="{0734AC17-409C-4E48-8C04-0F33B2057A38}" presName="composite" presStyleCnt="0"/>
      <dgm:spPr/>
    </dgm:pt>
    <dgm:pt modelId="{1B79317F-A442-4511-B9BF-8F6F834B3026}" type="pres">
      <dgm:prSet presAssocID="{0734AC17-409C-4E48-8C04-0F33B2057A38}" presName="background" presStyleLbl="node0" presStyleIdx="1" presStyleCnt="2"/>
      <dgm:spPr/>
    </dgm:pt>
    <dgm:pt modelId="{59EFA2D3-BBC9-4358-9C3C-B4C8D3965BBE}" type="pres">
      <dgm:prSet presAssocID="{0734AC17-409C-4E48-8C04-0F33B2057A38}" presName="text" presStyleLbl="fgAcc0" presStyleIdx="1" presStyleCnt="2">
        <dgm:presLayoutVars>
          <dgm:chPref val="3"/>
        </dgm:presLayoutVars>
      </dgm:prSet>
      <dgm:spPr/>
    </dgm:pt>
    <dgm:pt modelId="{99A75B7A-6807-4349-A75F-F5A6BD36E63C}" type="pres">
      <dgm:prSet presAssocID="{0734AC17-409C-4E48-8C04-0F33B2057A38}" presName="hierChild2" presStyleCnt="0"/>
      <dgm:spPr/>
    </dgm:pt>
  </dgm:ptLst>
  <dgm:cxnLst>
    <dgm:cxn modelId="{EFB8DC1A-770D-465C-9427-32967C86B3AD}" type="presOf" srcId="{0734AC17-409C-4E48-8C04-0F33B2057A38}" destId="{59EFA2D3-BBC9-4358-9C3C-B4C8D3965BBE}" srcOrd="0" destOrd="0" presId="urn:microsoft.com/office/officeart/2005/8/layout/hierarchy1"/>
    <dgm:cxn modelId="{44590239-1B73-468F-A51C-EFAC4B5B88D0}" srcId="{8AD37299-F69D-4D2A-BAB6-67451B25B06A}" destId="{0734AC17-409C-4E48-8C04-0F33B2057A38}" srcOrd="1" destOrd="0" parTransId="{C2F0BE3E-ECE4-4996-A853-E71C0A057922}" sibTransId="{FB774507-8F5D-47B6-9697-12EEDE868443}"/>
    <dgm:cxn modelId="{792DFB58-B050-4D4C-AB91-81D4B06C00B8}" type="presOf" srcId="{8AD37299-F69D-4D2A-BAB6-67451B25B06A}" destId="{F9563634-4A42-4EF4-9892-E6322A530A54}" srcOrd="0" destOrd="0" presId="urn:microsoft.com/office/officeart/2005/8/layout/hierarchy1"/>
    <dgm:cxn modelId="{24C02098-287A-4888-A8A7-B095F373E1FF}" srcId="{8AD37299-F69D-4D2A-BAB6-67451B25B06A}" destId="{88515E49-8494-4701-BA84-30F6F18D9B07}" srcOrd="0" destOrd="0" parTransId="{63210636-F312-4D03-BCFF-68D98B1F0866}" sibTransId="{EDB71C83-4A5C-417F-AE4E-21491C71ECD9}"/>
    <dgm:cxn modelId="{74F15EFE-6B3C-487C-8858-967DF8031EF4}" type="presOf" srcId="{88515E49-8494-4701-BA84-30F6F18D9B07}" destId="{83974E75-C12F-44B6-B228-C135995D3CDD}" srcOrd="0" destOrd="0" presId="urn:microsoft.com/office/officeart/2005/8/layout/hierarchy1"/>
    <dgm:cxn modelId="{8DC1D723-0A87-4699-A630-A653643E2E14}" type="presParOf" srcId="{F9563634-4A42-4EF4-9892-E6322A530A54}" destId="{72C12463-2B67-4F0B-81BB-7434F9658423}" srcOrd="0" destOrd="0" presId="urn:microsoft.com/office/officeart/2005/8/layout/hierarchy1"/>
    <dgm:cxn modelId="{E6752E8C-AF16-494E-B8E7-F04579D7B235}" type="presParOf" srcId="{72C12463-2B67-4F0B-81BB-7434F9658423}" destId="{A1F24912-0603-4DF0-9618-6C97F598E0EF}" srcOrd="0" destOrd="0" presId="urn:microsoft.com/office/officeart/2005/8/layout/hierarchy1"/>
    <dgm:cxn modelId="{A8CEF49E-2540-4A3E-8CC8-2F02B925E2DF}" type="presParOf" srcId="{A1F24912-0603-4DF0-9618-6C97F598E0EF}" destId="{66C7862F-E0BC-43BF-AC10-01790DE88041}" srcOrd="0" destOrd="0" presId="urn:microsoft.com/office/officeart/2005/8/layout/hierarchy1"/>
    <dgm:cxn modelId="{8394EC4B-8966-41D4-9952-B2841B1C6450}" type="presParOf" srcId="{A1F24912-0603-4DF0-9618-6C97F598E0EF}" destId="{83974E75-C12F-44B6-B228-C135995D3CDD}" srcOrd="1" destOrd="0" presId="urn:microsoft.com/office/officeart/2005/8/layout/hierarchy1"/>
    <dgm:cxn modelId="{D085564B-479D-4AEC-9DA0-A5CAEFBC559C}" type="presParOf" srcId="{72C12463-2B67-4F0B-81BB-7434F9658423}" destId="{65E867D6-042E-4031-A2E1-D8D0A3F22690}" srcOrd="1" destOrd="0" presId="urn:microsoft.com/office/officeart/2005/8/layout/hierarchy1"/>
    <dgm:cxn modelId="{56B71DA1-F4D6-438E-9761-6D32A6A632D5}" type="presParOf" srcId="{F9563634-4A42-4EF4-9892-E6322A530A54}" destId="{4836DFE4-969E-41C1-8811-AA8B9946AC5D}" srcOrd="1" destOrd="0" presId="urn:microsoft.com/office/officeart/2005/8/layout/hierarchy1"/>
    <dgm:cxn modelId="{9E3DB817-774C-4957-A09F-073A0DCBF84D}" type="presParOf" srcId="{4836DFE4-969E-41C1-8811-AA8B9946AC5D}" destId="{7CB1AAA6-BC7B-4DA4-8113-EDAC6987464A}" srcOrd="0" destOrd="0" presId="urn:microsoft.com/office/officeart/2005/8/layout/hierarchy1"/>
    <dgm:cxn modelId="{A781963C-F878-4673-A4D8-5F8BB3EF4EC0}" type="presParOf" srcId="{7CB1AAA6-BC7B-4DA4-8113-EDAC6987464A}" destId="{1B79317F-A442-4511-B9BF-8F6F834B3026}" srcOrd="0" destOrd="0" presId="urn:microsoft.com/office/officeart/2005/8/layout/hierarchy1"/>
    <dgm:cxn modelId="{8C4438E5-EDB5-4E12-8923-5EFA245A140A}" type="presParOf" srcId="{7CB1AAA6-BC7B-4DA4-8113-EDAC6987464A}" destId="{59EFA2D3-BBC9-4358-9C3C-B4C8D3965BBE}" srcOrd="1" destOrd="0" presId="urn:microsoft.com/office/officeart/2005/8/layout/hierarchy1"/>
    <dgm:cxn modelId="{E8D8B951-B78C-4A2D-B39E-0160A1031F45}" type="presParOf" srcId="{4836DFE4-969E-41C1-8811-AA8B9946AC5D}" destId="{99A75B7A-6807-4349-A75F-F5A6BD36E6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7862F-E0BC-43BF-AC10-01790DE88041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74E75-C12F-44B6-B228-C135995D3CD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Problem:</a:t>
          </a:r>
          <a:br>
            <a:rPr lang="en-US" sz="2600" kern="1200"/>
          </a:br>
          <a:r>
            <a:rPr lang="en-US" sz="2600" kern="1200"/>
            <a:t>Millions of people struggle to start and complete important goals because of overwhelm, task initiation challenges, and executive function barriers.</a:t>
          </a:r>
        </a:p>
      </dsp:txBody>
      <dsp:txXfrm>
        <a:off x="608661" y="692298"/>
        <a:ext cx="4508047" cy="2799040"/>
      </dsp:txXfrm>
    </dsp:sp>
    <dsp:sp modelId="{1B79317F-A442-4511-B9BF-8F6F834B3026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FA2D3-BBC9-4358-9C3C-B4C8D3965BBE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Solution:</a:t>
          </a:r>
          <a:br>
            <a:rPr lang="en-US" sz="2600" kern="1200"/>
          </a:br>
          <a:r>
            <a:rPr lang="en-US" sz="2600" kern="1200"/>
            <a:t>Launchpad AI helps users move from intention to action through AI-guided planning, focus coaching, and progress recovery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351C-3659-4E10-F2D6-D9D4CD310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E50A-E6DF-8C62-BB79-D28D616A5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001-FD86-4398-B312-28712478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A749-3DD0-B555-176D-9D592F1A8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E5E97-5ECD-D36D-0F46-56AD87CE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1EB9-D4FF-0085-D2DA-8D0A68B0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D984-246D-89FF-AF2C-9C2EDB51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4A04-63B2-7B85-32E0-93E35BCF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E494-3897-9408-345D-FEB2D5A6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F54B-CCCC-74BB-2251-826793A4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1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8A2D-5D1C-59D6-3120-DF991968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9ECD3-6C01-654D-5998-A9C2E4AB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FDD33-885B-AA30-C7F1-B8A4081B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BB228-5A53-2404-88FD-03084E26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2A8B9-FFB3-AEED-0AB1-20A683EF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4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771D-1AA5-91D0-9940-8FDFE6AF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48D4-33D7-4910-CF3A-51816DF97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DD2DD-5A5A-B77B-6810-E83FF296A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5486F-8A14-3769-6328-77D951AD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78A2-6A8F-2749-C68F-57BE47FB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B84BC-8AA1-6D4A-E2C8-5D5200EF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8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DB16-2446-23DE-B0BF-EBD30AA3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9CBDE-1B10-FD83-89E8-3E9E1CDE7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77EF9-4D28-16B2-1A0D-38390EADF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ADEDB-A453-3E14-F64F-D6FE4C03A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E4589-367E-68E1-5BD5-FB5063832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3CE35-4B39-B573-481F-9C7D12C4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1DA4B-85C7-3CF7-A45C-F80BE78C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289F6-3949-A398-947C-7F096CB5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2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913C-D65E-D3E1-C1C5-8262C034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9186B-61D1-B0E9-5966-CDCFFEF8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E415F-EFDD-393B-27F0-B10D7466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3B09D-C269-60E5-9257-A391AB72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6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BD293-C6F0-9832-3F0D-D7945634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103CD-53E7-F16E-9679-DF20444E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F850C-AD63-77C8-8FE5-DACEAFF7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3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5164-BC5A-F8C1-1AE1-862831A9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02BFE-8EE1-9570-39D8-243888249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DE584-0C07-767A-F633-C7A1B533E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FA7D3-FC8A-8495-A0AC-EB753479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17CCE-6FFB-5CE6-EA0E-5E1AA4E0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FE5A1-6DAB-E351-99A5-DA422187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7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7C7B-475D-6360-58E0-A011DDB5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9590B-0CFB-1F17-9252-2FAE46AF2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97EA2-9D77-84F3-5BF9-B56B0B88E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C2B0D-FF61-D69F-8ABA-D8501E01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2BC10-B166-1DD9-46CB-5043D840F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8A3D0-BB1B-CA8C-8520-E259CD4F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9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2B15-055C-B675-B0B9-620AAA76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A3681-EFC1-103A-722E-6971F3FDB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0CA8A-25D6-C6DE-3C70-F082F49B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A2E6E-F36E-C1E0-14EA-8AE80F6E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6735-0BBB-A36B-F8D2-259A8FAD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9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CC048-2DF0-3A9D-38C4-9BB130286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14240-13CB-62CC-4F69-DB1DD2F80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25A53-B89A-BC7C-1ECD-A3B9B2A8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7F5E-6D65-CABA-DAD8-9D6FD95F1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BE7AC-4238-2142-BCDF-E88C162B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5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6AD83E-95BA-E18F-A30F-D41FD423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0FD6-2D31-16AC-41B2-54B989550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9C8AF-CE58-AD94-6254-A60A52F57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A80A8-1CEE-4234-B498-2E7E5E70FAA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D24D-8EFC-5AB8-16F6-849AD0831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80DF9-C5C5-6ED0-5D85-329352E63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19BD6-7489-4C81-B907-AAF20A362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39E7D-9CE5-AADF-4FA1-F84CB5686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LaunchPad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D75E6-3F3D-5F8A-1414-AC82ABC15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2000" b="1" dirty="0"/>
              <a:t>Turning Overwhelm Into Action, One Step at a Time</a:t>
            </a:r>
          </a:p>
          <a:p>
            <a:pPr algn="l"/>
            <a:r>
              <a:rPr lang="en-US" sz="2000" dirty="0"/>
              <a:t>Microsoft Agents League Hackathon</a:t>
            </a:r>
            <a:br>
              <a:rPr lang="en-US" sz="2000" dirty="0"/>
            </a:br>
            <a:r>
              <a:rPr lang="en-US" sz="2000" dirty="0"/>
              <a:t>Reasoning Agents Track</a:t>
            </a:r>
          </a:p>
          <a:p>
            <a:pPr algn="l"/>
            <a:r>
              <a:rPr lang="en-US" sz="2000" dirty="0"/>
              <a:t>Created by: Robert Couch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084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85B91-2C3D-EDF4-CC3F-D1BDB3A7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Mission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46F1A3-5BDC-1F7B-0FE4-CA349B17A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8503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58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5DB43-86D0-609F-74D6-59A6A168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FBFA76-89A4-FB3A-029D-D1FA1CA74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The Executive Function Gap</a:t>
            </a:r>
          </a:p>
          <a:p>
            <a:pPr marL="0" indent="0">
              <a:buNone/>
            </a:pPr>
            <a:r>
              <a:rPr lang="en-US" sz="2000"/>
              <a:t>Many productivity tools help users organize work.</a:t>
            </a:r>
          </a:p>
          <a:p>
            <a:pPr marL="0" indent="0">
              <a:buNone/>
            </a:pPr>
            <a:r>
              <a:rPr lang="en-US" sz="2000"/>
              <a:t>Few help users begin.</a:t>
            </a:r>
          </a:p>
          <a:p>
            <a:pPr marL="0" indent="0">
              <a:buNone/>
            </a:pPr>
            <a:r>
              <a:rPr lang="en-US" sz="2000"/>
              <a:t>Common barriers include:</a:t>
            </a:r>
          </a:p>
          <a:p>
            <a:pPr marL="0" indent="0">
              <a:buNone/>
            </a:pPr>
            <a:r>
              <a:rPr lang="en-US" sz="2000"/>
              <a:t>• Overwhelm</a:t>
            </a:r>
            <a:br>
              <a:rPr lang="en-US" sz="2000"/>
            </a:br>
            <a:r>
              <a:rPr lang="en-US" sz="2000"/>
              <a:t>• Procrastination</a:t>
            </a:r>
            <a:br>
              <a:rPr lang="en-US" sz="2000"/>
            </a:br>
            <a:r>
              <a:rPr lang="en-US" sz="2000"/>
              <a:t>• Analysis paralysis</a:t>
            </a:r>
            <a:br>
              <a:rPr lang="en-US" sz="2000"/>
            </a:br>
            <a:r>
              <a:rPr lang="en-US" sz="2000"/>
              <a:t>• Unclear starting points</a:t>
            </a:r>
            <a:br>
              <a:rPr lang="en-US" sz="2000"/>
            </a:br>
            <a:r>
              <a:rPr lang="en-US" sz="2000"/>
              <a:t>• Perfectionism</a:t>
            </a:r>
            <a:br>
              <a:rPr lang="en-US" sz="2000"/>
            </a:br>
            <a:r>
              <a:rPr lang="en-US" sz="2000"/>
              <a:t>• Difficulty resuming after interruptions</a:t>
            </a:r>
          </a:p>
          <a:p>
            <a:pPr marL="0" indent="0">
              <a:buNone/>
            </a:pPr>
            <a:r>
              <a:rPr lang="en-US" sz="2000"/>
              <a:t>Example:</a:t>
            </a:r>
          </a:p>
          <a:p>
            <a:pPr marL="0" indent="0">
              <a:buNone/>
            </a:pPr>
            <a:r>
              <a:rPr lang="en-US" sz="2000"/>
              <a:t>"I need to study for Security+, but I don't know where to start."</a:t>
            </a:r>
          </a:p>
          <a:p>
            <a:pPr marL="0" indent="0">
              <a:buNone/>
            </a:pPr>
            <a:r>
              <a:rPr lang="en-US" sz="2000"/>
              <a:t>The challenge isn't knowledge.</a:t>
            </a:r>
          </a:p>
          <a:p>
            <a:pPr marL="0" indent="0">
              <a:buNone/>
            </a:pPr>
            <a:r>
              <a:rPr lang="en-US" sz="2000"/>
              <a:t>The challenge is execution.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45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8ADE2-EEB8-174E-851F-60037ADF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Solution, Architecture, Technology, Demo, and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1F29-C42E-878B-E4A3-614A85068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Solution</a:t>
            </a:r>
          </a:p>
          <a:p>
            <a:r>
              <a:rPr lang="en-US" sz="2000"/>
              <a:t>Launchpad AI is an executive-function support agent that helps users:</a:t>
            </a:r>
          </a:p>
          <a:p>
            <a:r>
              <a:rPr lang="en-US" sz="2000"/>
              <a:t>Identify barriers</a:t>
            </a:r>
          </a:p>
          <a:p>
            <a:r>
              <a:rPr lang="en-US" sz="2000"/>
              <a:t>Clarify goals</a:t>
            </a:r>
          </a:p>
          <a:p>
            <a:r>
              <a:rPr lang="en-US" sz="2000"/>
              <a:t>Break work into milestones</a:t>
            </a:r>
          </a:p>
          <a:p>
            <a:r>
              <a:rPr lang="en-US" sz="2000"/>
              <a:t>Start focused work sessions</a:t>
            </a:r>
          </a:p>
          <a:p>
            <a:r>
              <a:rPr lang="en-US" sz="2000"/>
              <a:t>Recover progress after interruptions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5628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0C1C2-429F-DB59-4162-FD450494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B8F3-2AD5-95A1-F96C-7E4985952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User Goal</a:t>
            </a:r>
            <a:br>
              <a:rPr lang="en-US" sz="2000"/>
            </a:br>
            <a:r>
              <a:rPr lang="en-US" sz="2000"/>
              <a:t>↓</a:t>
            </a:r>
            <a:br>
              <a:rPr lang="en-US" sz="2000"/>
            </a:br>
            <a:r>
              <a:rPr lang="en-US" sz="2000"/>
              <a:t>Barrier Detection</a:t>
            </a:r>
            <a:br>
              <a:rPr lang="en-US" sz="2000"/>
            </a:br>
            <a:r>
              <a:rPr lang="en-US" sz="2000"/>
              <a:t>↓</a:t>
            </a:r>
            <a:br>
              <a:rPr lang="en-US" sz="2000"/>
            </a:br>
            <a:r>
              <a:rPr lang="en-US" sz="2000"/>
              <a:t>Planning</a:t>
            </a:r>
            <a:br>
              <a:rPr lang="en-US" sz="2000"/>
            </a:br>
            <a:r>
              <a:rPr lang="en-US" sz="2000"/>
              <a:t>↓</a:t>
            </a:r>
            <a:br>
              <a:rPr lang="en-US" sz="2000"/>
            </a:br>
            <a:r>
              <a:rPr lang="en-US" sz="2000"/>
              <a:t>Focus Coaching</a:t>
            </a:r>
            <a:br>
              <a:rPr lang="en-US" sz="2000"/>
            </a:br>
            <a:r>
              <a:rPr lang="en-US" sz="2000"/>
              <a:t>↓</a:t>
            </a:r>
            <a:br>
              <a:rPr lang="en-US" sz="2000"/>
            </a:br>
            <a:r>
              <a:rPr lang="en-US" sz="2000"/>
              <a:t>Progress Recovery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1335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88588-3A44-488D-CAC6-D4EBB8C1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Agent Architecture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1416F-61AF-65A7-0964-03942F4B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Current MVP uses a single Azure AI Foundry agent implementing specialized reasoning roles:</a:t>
            </a:r>
          </a:p>
          <a:p>
            <a:pPr marL="0" indent="0">
              <a:buNone/>
            </a:pPr>
            <a:r>
              <a:rPr lang="en-US" sz="2000"/>
              <a:t>• Executive Function Agent</a:t>
            </a:r>
            <a:br>
              <a:rPr lang="en-US" sz="2000"/>
            </a:br>
            <a:r>
              <a:rPr lang="en-US" sz="2000"/>
              <a:t>• Learning Path Agent</a:t>
            </a:r>
            <a:br>
              <a:rPr lang="en-US" sz="2000"/>
            </a:br>
            <a:r>
              <a:rPr lang="en-US" sz="2000"/>
              <a:t>• Study Plan Agent</a:t>
            </a:r>
            <a:br>
              <a:rPr lang="en-US" sz="2000"/>
            </a:br>
            <a:r>
              <a:rPr lang="en-US" sz="2000"/>
              <a:t>• Focus Coach Agent</a:t>
            </a:r>
            <a:br>
              <a:rPr lang="en-US" sz="2000"/>
            </a:br>
            <a:r>
              <a:rPr lang="en-US" sz="2000"/>
              <a:t>• Progress Recovery Agent</a:t>
            </a:r>
          </a:p>
          <a:p>
            <a:r>
              <a:rPr lang="en-US" sz="2000"/>
              <a:t>Future versions can separate these into independently orchestrated agents.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7224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2B931-45FD-4AC1-28D1-CC453E3B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Microsoft Technology Stack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02F7-8818-2335-9B5B-324F17B3F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Built using:</a:t>
            </a:r>
          </a:p>
          <a:p>
            <a:pPr marL="0" indent="0">
              <a:buNone/>
            </a:pPr>
            <a:r>
              <a:rPr lang="en-US" sz="2000"/>
              <a:t>• Azure AI Foundry</a:t>
            </a:r>
            <a:br>
              <a:rPr lang="en-US" sz="2000"/>
            </a:br>
            <a:r>
              <a:rPr lang="en-US" sz="2000"/>
              <a:t>• GPT-4.1-mini</a:t>
            </a:r>
            <a:br>
              <a:rPr lang="en-US" sz="2000"/>
            </a:br>
            <a:r>
              <a:rPr lang="en-US" sz="2000"/>
              <a:t>• Azure AI Search</a:t>
            </a:r>
            <a:br>
              <a:rPr lang="en-US" sz="2000"/>
            </a:br>
            <a:r>
              <a:rPr lang="en-US" sz="2000"/>
              <a:t>• Foundry Knowledge Base</a:t>
            </a:r>
            <a:br>
              <a:rPr lang="en-US" sz="2000"/>
            </a:br>
            <a:r>
              <a:rPr lang="en-US" sz="2000"/>
              <a:t>• Foundry IQ Knowledge Retrieval</a:t>
            </a:r>
          </a:p>
          <a:p>
            <a:pPr marL="0" indent="0">
              <a:buNone/>
            </a:pPr>
            <a:r>
              <a:rPr lang="en-US" sz="2000"/>
              <a:t>Knowledge Sources:</a:t>
            </a:r>
          </a:p>
          <a:p>
            <a:pPr marL="0" indent="0">
              <a:buNone/>
            </a:pPr>
            <a:r>
              <a:rPr lang="en-US" sz="2000"/>
              <a:t>• Executive Function Guide</a:t>
            </a:r>
            <a:br>
              <a:rPr lang="en-US" sz="2000"/>
            </a:br>
            <a:r>
              <a:rPr lang="en-US" sz="2000"/>
              <a:t>• Security+ Study Guide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41FC6-25A4-6873-C336-3C98712D6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1208812"/>
            <a:ext cx="2823586" cy="1764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E6CEFD-7A30-3E6C-AC88-787C2EC22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3905110"/>
            <a:ext cx="2823586" cy="176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0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F9802-6DEE-8675-DAF7-718BF77E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Demo Scenario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ACC1E-B85C-2156-428C-87B9A7E3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User Input:</a:t>
            </a:r>
          </a:p>
          <a:p>
            <a:pPr marL="0" indent="0">
              <a:buNone/>
            </a:pPr>
            <a:r>
              <a:rPr lang="en-US" sz="1700"/>
              <a:t>"I need to study for Security+ but I keep getting overwhelmed. I don't know where to start and I keep putting it off."</a:t>
            </a:r>
          </a:p>
          <a:p>
            <a:pPr marL="0" indent="0">
              <a:buNone/>
            </a:pPr>
            <a:r>
              <a:rPr lang="en-US" sz="1700"/>
              <a:t>Launchpad AI:</a:t>
            </a:r>
          </a:p>
          <a:p>
            <a:pPr marL="0" indent="0">
              <a:buNone/>
            </a:pPr>
            <a:r>
              <a:rPr lang="en-US" sz="1700"/>
              <a:t>• Identifies overwhelm as the primary barrier</a:t>
            </a:r>
            <a:br>
              <a:rPr lang="en-US" sz="1700"/>
            </a:br>
            <a:r>
              <a:rPr lang="en-US" sz="1700"/>
              <a:t>• Breaks Security+ into milestones</a:t>
            </a:r>
            <a:br>
              <a:rPr lang="en-US" sz="1700"/>
            </a:br>
            <a:r>
              <a:rPr lang="en-US" sz="1700"/>
              <a:t>• Recommends a 15-minute focus session</a:t>
            </a:r>
            <a:br>
              <a:rPr lang="en-US" sz="1700"/>
            </a:br>
            <a:r>
              <a:rPr lang="en-US" sz="1700"/>
              <a:t>• Provides the smallest actionable next step</a:t>
            </a:r>
            <a:br>
              <a:rPr lang="en-US" sz="1700"/>
            </a:br>
            <a:r>
              <a:rPr lang="en-US" sz="1700"/>
              <a:t>• Creates a progress summary for later recovery</a:t>
            </a:r>
          </a:p>
          <a:p>
            <a:pPr marL="0" indent="0">
              <a:buNone/>
            </a:pPr>
            <a:r>
              <a:rPr lang="en-US" sz="1700"/>
              <a:t>Additional test:</a:t>
            </a:r>
          </a:p>
          <a:p>
            <a:pPr marL="0" indent="0">
              <a:buNone/>
            </a:pPr>
            <a:r>
              <a:rPr lang="en-US" sz="1700"/>
              <a:t>"I want to clean my apartment but feel overwhelmed."</a:t>
            </a:r>
          </a:p>
          <a:p>
            <a:pPr marL="0" indent="0">
              <a:buNone/>
            </a:pPr>
            <a:r>
              <a:rPr lang="en-US" sz="1700"/>
              <a:t>Result:</a:t>
            </a:r>
          </a:p>
          <a:p>
            <a:pPr marL="0" indent="0">
              <a:buNone/>
            </a:pPr>
            <a:r>
              <a:rPr lang="en-US" sz="1700"/>
              <a:t>The same workflow successfully generalized beyond studying, demonstrating applicability across work, learning, and personal goals.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3845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23932-A982-0177-CD5C-8FC53DAA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Future Vision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C41BD-8B64-E498-9564-C3898026A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Launchpad AI can support:</a:t>
            </a:r>
          </a:p>
          <a:p>
            <a:pPr marL="0" indent="0">
              <a:buNone/>
            </a:pPr>
            <a:r>
              <a:rPr lang="en-US" sz="2000" dirty="0"/>
              <a:t>• Certifications</a:t>
            </a:r>
            <a:br>
              <a:rPr lang="en-US" sz="2000" dirty="0"/>
            </a:br>
            <a:r>
              <a:rPr lang="en-US" sz="2000" dirty="0"/>
              <a:t>• College courses</a:t>
            </a:r>
            <a:br>
              <a:rPr lang="en-US" sz="2000" dirty="0"/>
            </a:br>
            <a:r>
              <a:rPr lang="en-US" sz="2000" dirty="0"/>
              <a:t>• Work projects</a:t>
            </a:r>
            <a:br>
              <a:rPr lang="en-US" sz="2000" dirty="0"/>
            </a:br>
            <a:r>
              <a:rPr lang="en-US" sz="2000" dirty="0"/>
              <a:t>• Job applications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Homelab</a:t>
            </a:r>
            <a:r>
              <a:rPr lang="en-US" sz="2000" dirty="0"/>
              <a:t> projects</a:t>
            </a:r>
            <a:br>
              <a:rPr lang="en-US" sz="2000" dirty="0"/>
            </a:br>
            <a:r>
              <a:rPr lang="en-US" sz="2000" dirty="0"/>
              <a:t>• Household organization</a:t>
            </a:r>
            <a:br>
              <a:rPr lang="en-US" sz="2000" dirty="0"/>
            </a:br>
            <a:r>
              <a:rPr lang="en-US" sz="2000" dirty="0"/>
              <a:t>• Personal development goals</a:t>
            </a:r>
          </a:p>
          <a:p>
            <a:pPr marL="0" indent="0">
              <a:buNone/>
            </a:pPr>
            <a:r>
              <a:rPr lang="en-US" sz="2000" dirty="0"/>
              <a:t>Long-term goal:</a:t>
            </a:r>
          </a:p>
          <a:p>
            <a:pPr marL="0" indent="0">
              <a:buNone/>
            </a:pPr>
            <a:r>
              <a:rPr lang="en-US" sz="2000" dirty="0"/>
              <a:t>Create a true multi-agent executive-function platform that helps people consistently transform intentions into meaningful progress.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284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466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LaunchPad AI</vt:lpstr>
      <vt:lpstr>Mission</vt:lpstr>
      <vt:lpstr>The Problem</vt:lpstr>
      <vt:lpstr>Solution, Architecture, Technology, Demo, and Future Vision</vt:lpstr>
      <vt:lpstr>Workflow</vt:lpstr>
      <vt:lpstr>Agent Architecture </vt:lpstr>
      <vt:lpstr>Microsoft Technology Stack </vt:lpstr>
      <vt:lpstr>Demo Scenario </vt:lpstr>
      <vt:lpstr>Future Vision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Couch</dc:creator>
  <cp:lastModifiedBy>Robert Couch</cp:lastModifiedBy>
  <cp:revision>1</cp:revision>
  <dcterms:created xsi:type="dcterms:W3CDTF">2026-06-15T02:34:23Z</dcterms:created>
  <dcterms:modified xsi:type="dcterms:W3CDTF">2026-06-15T02:46:22Z</dcterms:modified>
</cp:coreProperties>
</file>